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Noto Serif Ethiopic Condensed" charset="1" panose="02020502060505020204"/>
      <p:regular r:id="rId26"/>
    </p:embeddedFont>
    <p:embeddedFont>
      <p:font typeface="Noto Serif Ethiopic Condensed Bold" charset="1" panose="02020502060505020204"/>
      <p:regular r:id="rId27"/>
    </p:embeddedFont>
    <p:embeddedFont>
      <p:font typeface="Canva Sans" charset="1" panose="020B05030305010401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Masters/notesMaster1.xml" Type="http://schemas.openxmlformats.org/officeDocument/2006/relationships/notesMaster"/><Relationship Id="rId3" Target="viewProps.xml" Type="http://schemas.openxmlformats.org/officeDocument/2006/relationships/viewProps"/><Relationship Id="rId30" Target="theme/theme2.xml" Type="http://schemas.openxmlformats.org/officeDocument/2006/relationships/theme"/><Relationship Id="rId31" Target="notesSlides/notesSlide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2" Target="../media/image3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kaggle.com/datasets/umeradnaan/prediction-of-disaster-management-in-2024" TargetMode="External" Type="http://schemas.openxmlformats.org/officeDocument/2006/relationships/hyperlink"/><Relationship Id="rId11" Target="../media/image3.png" Type="http://schemas.openxmlformats.org/officeDocument/2006/relationships/image"/><Relationship Id="rId2" Target="https://www.mdpi.com/2227-9091/9/11/192" TargetMode="External" Type="http://schemas.openxmlformats.org/officeDocument/2006/relationships/hyperlink"/><Relationship Id="rId3" Target="https://www.mdpi.com/2227-9091/9/11/192" TargetMode="External" Type="http://schemas.openxmlformats.org/officeDocument/2006/relationships/hyperlink"/><Relationship Id="rId4" Target="https://www.mdpi.com/2227-9091/9/11/192" TargetMode="External" Type="http://schemas.openxmlformats.org/officeDocument/2006/relationships/hyperlink"/><Relationship Id="rId5" Target="https://www.mdpi.com/2227-9091/9/11/192" TargetMode="External" Type="http://schemas.openxmlformats.org/officeDocument/2006/relationships/hyperlink"/><Relationship Id="rId6" Target="https://www.researchgate.net/publication/368338344_Credit_Scoring_Model_for_Farmers_using_Random_Forest" TargetMode="External" Type="http://schemas.openxmlformats.org/officeDocument/2006/relationships/hyperlink"/><Relationship Id="rId7" Target="https://digicraft.ai/2025/06/19/transforming-credit-access-built-an-ai-driven-lending-ecosystem/" TargetMode="External" Type="http://schemas.openxmlformats.org/officeDocument/2006/relationships/hyperlink"/><Relationship Id="rId8" Target="https://www.kaggle.com/datasets/anshumish/crop-yield-data-with-soil-and-weather-dataset" TargetMode="External" Type="http://schemas.openxmlformats.org/officeDocument/2006/relationships/hyperlink"/><Relationship Id="rId9" Target="https://data.mendeley.com/datasets/nfj84km5fz/1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8608" y="4308645"/>
            <a:ext cx="8579796" cy="4504393"/>
          </a:xfrm>
          <a:custGeom>
            <a:avLst/>
            <a:gdLst/>
            <a:ahLst/>
            <a:cxnLst/>
            <a:rect r="r" b="b" t="t" l="l"/>
            <a:pathLst>
              <a:path h="4504393" w="8579796">
                <a:moveTo>
                  <a:pt x="0" y="0"/>
                </a:moveTo>
                <a:lnTo>
                  <a:pt x="8579796" y="0"/>
                </a:lnTo>
                <a:lnTo>
                  <a:pt x="8579796" y="4504393"/>
                </a:lnTo>
                <a:lnTo>
                  <a:pt x="0" y="4504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56997" y="1166885"/>
            <a:ext cx="6215790" cy="4656191"/>
          </a:xfrm>
          <a:custGeom>
            <a:avLst/>
            <a:gdLst/>
            <a:ahLst/>
            <a:cxnLst/>
            <a:rect r="r" b="b" t="t" l="l"/>
            <a:pathLst>
              <a:path h="4656191" w="6215790">
                <a:moveTo>
                  <a:pt x="0" y="0"/>
                </a:moveTo>
                <a:lnTo>
                  <a:pt x="6215790" y="0"/>
                </a:lnTo>
                <a:lnTo>
                  <a:pt x="6215790" y="4656191"/>
                </a:lnTo>
                <a:lnTo>
                  <a:pt x="0" y="46561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074226"/>
            <a:ext cx="12000694" cy="162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Gurukul Learning: 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Ancient Meth</a:t>
            </a: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od meeting Modern Day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00393" y="6666769"/>
            <a:ext cx="6895893" cy="272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6"/>
              </a:lnSpc>
            </a:pPr>
            <a:r>
              <a:rPr lang="en-US" sz="2582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Team Id:</a:t>
            </a:r>
            <a:r>
              <a:rPr lang="en-US" sz="2582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 H26EDU03</a:t>
            </a:r>
          </a:p>
          <a:p>
            <a:pPr algn="just">
              <a:lnSpc>
                <a:spcPts val="3616"/>
              </a:lnSpc>
            </a:pPr>
            <a:r>
              <a:rPr lang="en-US" sz="2582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Team Lead: Nagella Venkata Siva Sai Advik</a:t>
            </a:r>
          </a:p>
          <a:p>
            <a:pPr algn="just">
              <a:lnSpc>
                <a:spcPts val="3616"/>
              </a:lnSpc>
            </a:pPr>
            <a:r>
              <a:rPr lang="en-US" sz="2582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Team Members: Barath Kumar S</a:t>
            </a:r>
          </a:p>
          <a:p>
            <a:pPr algn="just">
              <a:lnSpc>
                <a:spcPts val="3616"/>
              </a:lnSpc>
            </a:pPr>
            <a:r>
              <a:rPr lang="en-US" sz="2582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Collage Name: Kumaraguru Collage of Technology</a:t>
            </a:r>
          </a:p>
          <a:p>
            <a:pPr algn="just">
              <a:lnSpc>
                <a:spcPts val="3616"/>
              </a:lnSpc>
            </a:pPr>
            <a:r>
              <a:rPr lang="en-US" sz="2582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                </a:t>
            </a:r>
          </a:p>
          <a:p>
            <a:pPr algn="just">
              <a:lnSpc>
                <a:spcPts val="361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1777"/>
            <a:ext cx="2528697" cy="191832"/>
          </a:xfrm>
          <a:custGeom>
            <a:avLst/>
            <a:gdLst/>
            <a:ahLst/>
            <a:cxnLst/>
            <a:rect r="r" b="b" t="t" l="l"/>
            <a:pathLst>
              <a:path h="191832" w="2528697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91039" y="1269013"/>
            <a:ext cx="984969" cy="984969"/>
          </a:xfrm>
          <a:custGeom>
            <a:avLst/>
            <a:gdLst/>
            <a:ahLst/>
            <a:cxnLst/>
            <a:rect r="r" b="b" t="t" l="l"/>
            <a:pathLst>
              <a:path h="984969" w="984969">
                <a:moveTo>
                  <a:pt x="0" y="0"/>
                </a:moveTo>
                <a:lnTo>
                  <a:pt x="984969" y="0"/>
                </a:lnTo>
                <a:lnTo>
                  <a:pt x="984969" y="984969"/>
                </a:lnTo>
                <a:lnTo>
                  <a:pt x="0" y="984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72156" y="4476750"/>
            <a:ext cx="841785" cy="841785"/>
          </a:xfrm>
          <a:custGeom>
            <a:avLst/>
            <a:gdLst/>
            <a:ahLst/>
            <a:cxnLst/>
            <a:rect r="r" b="b" t="t" l="l"/>
            <a:pathLst>
              <a:path h="841785" w="841785">
                <a:moveTo>
                  <a:pt x="0" y="0"/>
                </a:moveTo>
                <a:lnTo>
                  <a:pt x="841785" y="0"/>
                </a:lnTo>
                <a:lnTo>
                  <a:pt x="841785" y="841785"/>
                </a:lnTo>
                <a:lnTo>
                  <a:pt x="0" y="841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42787" y="6798602"/>
            <a:ext cx="900523" cy="900523"/>
          </a:xfrm>
          <a:custGeom>
            <a:avLst/>
            <a:gdLst/>
            <a:ahLst/>
            <a:cxnLst/>
            <a:rect r="r" b="b" t="t" l="l"/>
            <a:pathLst>
              <a:path h="900523" w="900523">
                <a:moveTo>
                  <a:pt x="0" y="0"/>
                </a:moveTo>
                <a:lnTo>
                  <a:pt x="900523" y="0"/>
                </a:lnTo>
                <a:lnTo>
                  <a:pt x="900523" y="900523"/>
                </a:lnTo>
                <a:lnTo>
                  <a:pt x="0" y="900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58366" y="4646663"/>
            <a:ext cx="12173317" cy="230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Obj</a:t>
            </a: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ective: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Dem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ocratize elite-level, personalized mentorship at consumer scale.</a:t>
            </a: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923831" y="1263975"/>
            <a:ext cx="9096375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Problem Definition &amp; Its Significance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76181" y="2444482"/>
            <a:ext cx="13396253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Histo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rically, high-quality, 1-on-1 tutoring is an exclusive privilege.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Mass education systems face impossible student-to-teacher ratios.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Result: Millions fall behind in foundational logic, literacy, and numeracy.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11735" y="6979920"/>
            <a:ext cx="14706706" cy="2306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Approa</a:t>
            </a:r>
            <a:r>
              <a:rPr lang="en-US" b="true" sz="3299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ch:</a:t>
            </a:r>
          </a:p>
          <a:p>
            <a:pPr algn="l" marL="712470" indent="-356235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Build a multi-agent AI tut</a:t>
            </a:r>
            <a:r>
              <a:rPr lang="en-US" sz="32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or that dynamically adapts its teaching metaphor, regional dialect, and difficulty based on the learner's age and passions.</a:t>
            </a:r>
          </a:p>
          <a:p>
            <a:pPr algn="l">
              <a:lnSpc>
                <a:spcPts val="461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1777"/>
            <a:ext cx="2528697" cy="191832"/>
          </a:xfrm>
          <a:custGeom>
            <a:avLst/>
            <a:gdLst/>
            <a:ahLst/>
            <a:cxnLst/>
            <a:rect r="r" b="b" t="t" l="l"/>
            <a:pathLst>
              <a:path h="191832" w="2528697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1813" y="835388"/>
            <a:ext cx="862014" cy="862014"/>
          </a:xfrm>
          <a:custGeom>
            <a:avLst/>
            <a:gdLst/>
            <a:ahLst/>
            <a:cxnLst/>
            <a:rect r="r" b="b" t="t" l="l"/>
            <a:pathLst>
              <a:path h="862014" w="862014">
                <a:moveTo>
                  <a:pt x="0" y="0"/>
                </a:moveTo>
                <a:lnTo>
                  <a:pt x="862014" y="0"/>
                </a:lnTo>
                <a:lnTo>
                  <a:pt x="862014" y="862014"/>
                </a:lnTo>
                <a:lnTo>
                  <a:pt x="0" y="862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1813" y="5015670"/>
            <a:ext cx="1019453" cy="1019453"/>
          </a:xfrm>
          <a:custGeom>
            <a:avLst/>
            <a:gdLst/>
            <a:ahLst/>
            <a:cxnLst/>
            <a:rect r="r" b="b" t="t" l="l"/>
            <a:pathLst>
              <a:path h="1019453" w="1019453">
                <a:moveTo>
                  <a:pt x="0" y="0"/>
                </a:moveTo>
                <a:lnTo>
                  <a:pt x="1019454" y="0"/>
                </a:lnTo>
                <a:lnTo>
                  <a:pt x="1019454" y="1019453"/>
                </a:lnTo>
                <a:lnTo>
                  <a:pt x="0" y="1019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14366" y="5143931"/>
            <a:ext cx="12173317" cy="346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Current Gap</a:t>
            </a: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: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Ad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aptive Persona &amp; Tone: Missing in current solutions.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Regional Dialect/Idioms: Missing in current solutions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Non-linear Fallback Routing: Missing (Standard AI just repeats "Try Again").</a:t>
            </a: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543306" y="760603"/>
            <a:ext cx="7056597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Literature Survey &amp; The Gap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76181" y="1630727"/>
            <a:ext cx="13995054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Exist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ing EdTech AI acts like a rigid encyclopedia. It hallucinates and lacks emotional intelligence.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Great teachers use regional dialects, local culture, and students' personal interests to make learning more relatable and effective.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Current AI fails to replicate this human connection.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1777"/>
            <a:ext cx="2528697" cy="191832"/>
          </a:xfrm>
          <a:custGeom>
            <a:avLst/>
            <a:gdLst/>
            <a:ahLst/>
            <a:cxnLst/>
            <a:rect r="r" b="b" t="t" l="l"/>
            <a:pathLst>
              <a:path h="191832" w="2528697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44307" y="1383347"/>
            <a:ext cx="10145558" cy="8604702"/>
          </a:xfrm>
          <a:custGeom>
            <a:avLst/>
            <a:gdLst/>
            <a:ahLst/>
            <a:cxnLst/>
            <a:rect r="r" b="b" t="t" l="l"/>
            <a:pathLst>
              <a:path h="8604702" w="10145558">
                <a:moveTo>
                  <a:pt x="0" y="0"/>
                </a:moveTo>
                <a:lnTo>
                  <a:pt x="10145558" y="0"/>
                </a:lnTo>
                <a:lnTo>
                  <a:pt x="10145558" y="8604702"/>
                </a:lnTo>
                <a:lnTo>
                  <a:pt x="0" y="8604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93048" y="942975"/>
            <a:ext cx="1200983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Flow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1777"/>
            <a:ext cx="2528697" cy="191832"/>
          </a:xfrm>
          <a:custGeom>
            <a:avLst/>
            <a:gdLst/>
            <a:ahLst/>
            <a:cxnLst/>
            <a:rect r="r" b="b" t="t" l="l"/>
            <a:pathLst>
              <a:path h="191832" w="2528697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1775" y="2810898"/>
            <a:ext cx="3105243" cy="2319625"/>
            <a:chOff x="0" y="0"/>
            <a:chExt cx="1088081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8081" cy="812800"/>
            </a:xfrm>
            <a:custGeom>
              <a:avLst/>
              <a:gdLst/>
              <a:ahLst/>
              <a:cxnLst/>
              <a:rect r="r" b="b" t="t" l="l"/>
              <a:pathLst>
                <a:path h="812800" w="1088081">
                  <a:moveTo>
                    <a:pt x="544041" y="0"/>
                  </a:moveTo>
                  <a:cubicBezTo>
                    <a:pt x="243575" y="0"/>
                    <a:pt x="0" y="181951"/>
                    <a:pt x="0" y="406400"/>
                  </a:cubicBezTo>
                  <a:cubicBezTo>
                    <a:pt x="0" y="630849"/>
                    <a:pt x="243575" y="812800"/>
                    <a:pt x="544041" y="812800"/>
                  </a:cubicBezTo>
                  <a:cubicBezTo>
                    <a:pt x="844506" y="812800"/>
                    <a:pt x="1088081" y="630849"/>
                    <a:pt x="1088081" y="406400"/>
                  </a:cubicBezTo>
                  <a:cubicBezTo>
                    <a:pt x="1088081" y="181951"/>
                    <a:pt x="844506" y="0"/>
                    <a:pt x="544041" y="0"/>
                  </a:cubicBezTo>
                  <a:close/>
                </a:path>
              </a:pathLst>
            </a:custGeom>
            <a:solidFill>
              <a:srgbClr val="D5FD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2008" y="38100"/>
              <a:ext cx="88406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Learner UI(Web/Mobile Interface)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97697" y="2810898"/>
            <a:ext cx="2581821" cy="2332667"/>
            <a:chOff x="0" y="0"/>
            <a:chExt cx="685698" cy="6195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5698" cy="619526"/>
            </a:xfrm>
            <a:custGeom>
              <a:avLst/>
              <a:gdLst/>
              <a:ahLst/>
              <a:cxnLst/>
              <a:rect r="r" b="b" t="t" l="l"/>
              <a:pathLst>
                <a:path h="619526" w="685698">
                  <a:moveTo>
                    <a:pt x="152930" y="0"/>
                  </a:moveTo>
                  <a:lnTo>
                    <a:pt x="532768" y="0"/>
                  </a:lnTo>
                  <a:cubicBezTo>
                    <a:pt x="617229" y="0"/>
                    <a:pt x="685698" y="68469"/>
                    <a:pt x="685698" y="152930"/>
                  </a:cubicBezTo>
                  <a:lnTo>
                    <a:pt x="685698" y="466596"/>
                  </a:lnTo>
                  <a:cubicBezTo>
                    <a:pt x="685698" y="551057"/>
                    <a:pt x="617229" y="619526"/>
                    <a:pt x="532768" y="619526"/>
                  </a:cubicBezTo>
                  <a:lnTo>
                    <a:pt x="152930" y="619526"/>
                  </a:lnTo>
                  <a:cubicBezTo>
                    <a:pt x="68469" y="619526"/>
                    <a:pt x="0" y="551057"/>
                    <a:pt x="0" y="466596"/>
                  </a:cubicBezTo>
                  <a:lnTo>
                    <a:pt x="0" y="152930"/>
                  </a:lnTo>
                  <a:cubicBezTo>
                    <a:pt x="0" y="68469"/>
                    <a:pt x="68469" y="0"/>
                    <a:pt x="152930" y="0"/>
                  </a:cubicBezTo>
                  <a:close/>
                </a:path>
              </a:pathLst>
            </a:custGeom>
            <a:solidFill>
              <a:srgbClr val="FFF5C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85698" cy="657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Backend Server (State and Routing Managet)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97697" y="6158453"/>
            <a:ext cx="2581821" cy="2497870"/>
            <a:chOff x="0" y="0"/>
            <a:chExt cx="685698" cy="6634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5698" cy="663401"/>
            </a:xfrm>
            <a:custGeom>
              <a:avLst/>
              <a:gdLst/>
              <a:ahLst/>
              <a:cxnLst/>
              <a:rect r="r" b="b" t="t" l="l"/>
              <a:pathLst>
                <a:path h="663401" w="685698">
                  <a:moveTo>
                    <a:pt x="152930" y="0"/>
                  </a:moveTo>
                  <a:lnTo>
                    <a:pt x="532768" y="0"/>
                  </a:lnTo>
                  <a:cubicBezTo>
                    <a:pt x="617229" y="0"/>
                    <a:pt x="685698" y="68469"/>
                    <a:pt x="685698" y="152930"/>
                  </a:cubicBezTo>
                  <a:lnTo>
                    <a:pt x="685698" y="510471"/>
                  </a:lnTo>
                  <a:cubicBezTo>
                    <a:pt x="685698" y="594932"/>
                    <a:pt x="617229" y="663401"/>
                    <a:pt x="532768" y="663401"/>
                  </a:cubicBezTo>
                  <a:lnTo>
                    <a:pt x="152930" y="663401"/>
                  </a:lnTo>
                  <a:cubicBezTo>
                    <a:pt x="68469" y="663401"/>
                    <a:pt x="0" y="594932"/>
                    <a:pt x="0" y="510471"/>
                  </a:cubicBezTo>
                  <a:lnTo>
                    <a:pt x="0" y="152930"/>
                  </a:lnTo>
                  <a:cubicBezTo>
                    <a:pt x="0" y="68469"/>
                    <a:pt x="68469" y="0"/>
                    <a:pt x="152930" y="0"/>
                  </a:cubicBezTo>
                  <a:close/>
                </a:path>
              </a:pathLst>
            </a:custGeom>
            <a:solidFill>
              <a:srgbClr val="D7D9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85698" cy="701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Database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49292" y="2443136"/>
            <a:ext cx="3306054" cy="3060392"/>
            <a:chOff x="0" y="0"/>
            <a:chExt cx="878045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8045" cy="812800"/>
            </a:xfrm>
            <a:custGeom>
              <a:avLst/>
              <a:gdLst/>
              <a:ahLst/>
              <a:cxnLst/>
              <a:rect r="r" b="b" t="t" l="l"/>
              <a:pathLst>
                <a:path h="812800" w="878045">
                  <a:moveTo>
                    <a:pt x="119429" y="0"/>
                  </a:moveTo>
                  <a:lnTo>
                    <a:pt x="758616" y="0"/>
                  </a:lnTo>
                  <a:cubicBezTo>
                    <a:pt x="790290" y="0"/>
                    <a:pt x="820667" y="12583"/>
                    <a:pt x="843065" y="34980"/>
                  </a:cubicBezTo>
                  <a:cubicBezTo>
                    <a:pt x="865462" y="57377"/>
                    <a:pt x="878045" y="87754"/>
                    <a:pt x="878045" y="119429"/>
                  </a:cubicBezTo>
                  <a:lnTo>
                    <a:pt x="878045" y="693371"/>
                  </a:lnTo>
                  <a:cubicBezTo>
                    <a:pt x="878045" y="759330"/>
                    <a:pt x="824574" y="812800"/>
                    <a:pt x="758616" y="812800"/>
                  </a:cubicBezTo>
                  <a:lnTo>
                    <a:pt x="119429" y="812800"/>
                  </a:lnTo>
                  <a:cubicBezTo>
                    <a:pt x="87754" y="812800"/>
                    <a:pt x="57377" y="800217"/>
                    <a:pt x="34980" y="777820"/>
                  </a:cubicBezTo>
                  <a:cubicBezTo>
                    <a:pt x="12583" y="755423"/>
                    <a:pt x="0" y="725046"/>
                    <a:pt x="0" y="693371"/>
                  </a:cubicBezTo>
                  <a:lnTo>
                    <a:pt x="0" y="119429"/>
                  </a:lnTo>
                  <a:cubicBezTo>
                    <a:pt x="0" y="87754"/>
                    <a:pt x="12583" y="57377"/>
                    <a:pt x="34980" y="34980"/>
                  </a:cubicBezTo>
                  <a:cubicBezTo>
                    <a:pt x="57377" y="12583"/>
                    <a:pt x="87754" y="0"/>
                    <a:pt x="119429" y="0"/>
                  </a:cubicBezTo>
                  <a:close/>
                </a:path>
              </a:pathLst>
            </a:custGeom>
            <a:solidFill>
              <a:srgbClr val="D7D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7804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Multi - Agent Orchestrator</a:t>
              </a:r>
            </a:p>
            <a:p>
              <a:pPr algn="l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Phase A : Learner Profiling (Context Taker)</a:t>
              </a:r>
            </a:p>
            <a:p>
              <a:pPr algn="l" marL="410209" indent="-205105" lvl="1">
                <a:lnSpc>
                  <a:spcPts val="2659"/>
                </a:lnSpc>
                <a:buAutoNum type="arabicPeriod" startAt="1"/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Phase B: Personalized Learning Engine (Learning Loop)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89886" y="2447036"/>
            <a:ext cx="3060392" cy="306039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5FDD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Relevancy and Rule Evaluvator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66831" y="427169"/>
            <a:ext cx="1870976" cy="1386037"/>
            <a:chOff x="0" y="0"/>
            <a:chExt cx="496907" cy="3681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6907" cy="368113"/>
            </a:xfrm>
            <a:custGeom>
              <a:avLst/>
              <a:gdLst/>
              <a:ahLst/>
              <a:cxnLst/>
              <a:rect r="r" b="b" t="t" l="l"/>
              <a:pathLst>
                <a:path h="368113" w="496907">
                  <a:moveTo>
                    <a:pt x="184057" y="0"/>
                  </a:moveTo>
                  <a:lnTo>
                    <a:pt x="312850" y="0"/>
                  </a:lnTo>
                  <a:cubicBezTo>
                    <a:pt x="414502" y="0"/>
                    <a:pt x="496907" y="82405"/>
                    <a:pt x="496907" y="184057"/>
                  </a:cubicBezTo>
                  <a:lnTo>
                    <a:pt x="496907" y="184057"/>
                  </a:lnTo>
                  <a:cubicBezTo>
                    <a:pt x="496907" y="232871"/>
                    <a:pt x="477515" y="279687"/>
                    <a:pt x="442998" y="314204"/>
                  </a:cubicBezTo>
                  <a:cubicBezTo>
                    <a:pt x="408480" y="348722"/>
                    <a:pt x="361665" y="368113"/>
                    <a:pt x="312850" y="368113"/>
                  </a:cubicBezTo>
                  <a:lnTo>
                    <a:pt x="184057" y="368113"/>
                  </a:lnTo>
                  <a:cubicBezTo>
                    <a:pt x="82405" y="368113"/>
                    <a:pt x="0" y="285708"/>
                    <a:pt x="0" y="184057"/>
                  </a:cubicBezTo>
                  <a:lnTo>
                    <a:pt x="0" y="184057"/>
                  </a:lnTo>
                  <a:cubicBezTo>
                    <a:pt x="0" y="82405"/>
                    <a:pt x="82405" y="0"/>
                    <a:pt x="184057" y="0"/>
                  </a:cubicBezTo>
                  <a:close/>
                </a:path>
              </a:pathLst>
            </a:custGeom>
            <a:solidFill>
              <a:srgbClr val="BFE4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96907" cy="406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NVIDIA API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341314" y="918924"/>
            <a:ext cx="3032948" cy="2037975"/>
            <a:chOff x="0" y="0"/>
            <a:chExt cx="1209622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09622" cy="812800"/>
            </a:xfrm>
            <a:custGeom>
              <a:avLst/>
              <a:gdLst/>
              <a:ahLst/>
              <a:cxnLst/>
              <a:rect r="r" b="b" t="t" l="l"/>
              <a:pathLst>
                <a:path h="812800" w="1209622">
                  <a:moveTo>
                    <a:pt x="604811" y="0"/>
                  </a:moveTo>
                  <a:cubicBezTo>
                    <a:pt x="270783" y="0"/>
                    <a:pt x="0" y="181951"/>
                    <a:pt x="0" y="406400"/>
                  </a:cubicBezTo>
                  <a:cubicBezTo>
                    <a:pt x="0" y="630849"/>
                    <a:pt x="270783" y="812800"/>
                    <a:pt x="604811" y="812800"/>
                  </a:cubicBezTo>
                  <a:cubicBezTo>
                    <a:pt x="938839" y="812800"/>
                    <a:pt x="1209622" y="630849"/>
                    <a:pt x="1209622" y="406400"/>
                  </a:cubicBezTo>
                  <a:cubicBezTo>
                    <a:pt x="1209622" y="181951"/>
                    <a:pt x="938839" y="0"/>
                    <a:pt x="604811" y="0"/>
                  </a:cubicBezTo>
                  <a:close/>
                </a:path>
              </a:pathLst>
            </a:custGeom>
            <a:solidFill>
              <a:srgbClr val="FFF5C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3402" y="38100"/>
              <a:ext cx="982818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Personalized Audio/Presentation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(Add-On)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564309" y="6315579"/>
            <a:ext cx="3522733" cy="3750863"/>
            <a:chOff x="0" y="0"/>
            <a:chExt cx="935592" cy="9961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5592" cy="996180"/>
            </a:xfrm>
            <a:custGeom>
              <a:avLst/>
              <a:gdLst/>
              <a:ahLst/>
              <a:cxnLst/>
              <a:rect r="r" b="b" t="t" l="l"/>
              <a:pathLst>
                <a:path h="996180" w="935592">
                  <a:moveTo>
                    <a:pt x="112083" y="0"/>
                  </a:moveTo>
                  <a:lnTo>
                    <a:pt x="823509" y="0"/>
                  </a:lnTo>
                  <a:cubicBezTo>
                    <a:pt x="885410" y="0"/>
                    <a:pt x="935592" y="50181"/>
                    <a:pt x="935592" y="112083"/>
                  </a:cubicBezTo>
                  <a:lnTo>
                    <a:pt x="935592" y="884097"/>
                  </a:lnTo>
                  <a:cubicBezTo>
                    <a:pt x="935592" y="945999"/>
                    <a:pt x="885410" y="996180"/>
                    <a:pt x="823509" y="996180"/>
                  </a:cubicBezTo>
                  <a:lnTo>
                    <a:pt x="112083" y="996180"/>
                  </a:lnTo>
                  <a:cubicBezTo>
                    <a:pt x="50181" y="996180"/>
                    <a:pt x="0" y="945999"/>
                    <a:pt x="0" y="884097"/>
                  </a:cubicBezTo>
                  <a:lnTo>
                    <a:pt x="0" y="112083"/>
                  </a:lnTo>
                  <a:cubicBezTo>
                    <a:pt x="0" y="50181"/>
                    <a:pt x="50181" y="0"/>
                    <a:pt x="112083" y="0"/>
                  </a:cubicBezTo>
                  <a:close/>
                </a:path>
              </a:pathLst>
            </a:custGeom>
            <a:solidFill>
              <a:srgbClr val="BFE4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35592" cy="1034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Phase A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GET /api/onboard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POST /api/onboard/submit</a:t>
              </a: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Phase B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POST /api/learn/start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POST /api/learn/generate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GET /api/learn/stream</a:t>
              </a: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PATCH /api/learn/evaluate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3667017" y="3970711"/>
            <a:ext cx="1130680" cy="652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 flipV="true">
            <a:off x="7379518" y="3588243"/>
            <a:ext cx="1169774" cy="39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 flipH="true">
            <a:off x="6568742" y="5143565"/>
            <a:ext cx="0" cy="10148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 flipH="true" flipV="true">
            <a:off x="5633688" y="5143565"/>
            <a:ext cx="0" cy="10148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1" id="31"/>
          <p:cNvSpPr/>
          <p:nvPr/>
        </p:nvSpPr>
        <p:spPr>
          <a:xfrm flipH="true">
            <a:off x="7379518" y="4432228"/>
            <a:ext cx="1169774" cy="39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>
            <a:off x="10685425" y="5503528"/>
            <a:ext cx="20617" cy="81205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V="true">
            <a:off x="9848035" y="5503528"/>
            <a:ext cx="0" cy="80947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>
            <a:off x="11855346" y="3539998"/>
            <a:ext cx="1467874" cy="39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 flipH="true">
            <a:off x="15950278" y="2956900"/>
            <a:ext cx="907510" cy="102033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6" id="36"/>
          <p:cNvGrpSpPr/>
          <p:nvPr/>
        </p:nvGrpSpPr>
        <p:grpSpPr>
          <a:xfrm rot="0">
            <a:off x="13129171" y="7132209"/>
            <a:ext cx="2581821" cy="2332667"/>
            <a:chOff x="0" y="0"/>
            <a:chExt cx="685698" cy="61952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5698" cy="619526"/>
            </a:xfrm>
            <a:custGeom>
              <a:avLst/>
              <a:gdLst/>
              <a:ahLst/>
              <a:cxnLst/>
              <a:rect r="r" b="b" t="t" l="l"/>
              <a:pathLst>
                <a:path h="619526" w="685698">
                  <a:moveTo>
                    <a:pt x="152930" y="0"/>
                  </a:moveTo>
                  <a:lnTo>
                    <a:pt x="532768" y="0"/>
                  </a:lnTo>
                  <a:cubicBezTo>
                    <a:pt x="617229" y="0"/>
                    <a:pt x="685698" y="68469"/>
                    <a:pt x="685698" y="152930"/>
                  </a:cubicBezTo>
                  <a:lnTo>
                    <a:pt x="685698" y="466596"/>
                  </a:lnTo>
                  <a:cubicBezTo>
                    <a:pt x="685698" y="551057"/>
                    <a:pt x="617229" y="619526"/>
                    <a:pt x="532768" y="619526"/>
                  </a:cubicBezTo>
                  <a:lnTo>
                    <a:pt x="152930" y="619526"/>
                  </a:lnTo>
                  <a:cubicBezTo>
                    <a:pt x="68469" y="619526"/>
                    <a:pt x="0" y="551057"/>
                    <a:pt x="0" y="466596"/>
                  </a:cubicBezTo>
                  <a:lnTo>
                    <a:pt x="0" y="152930"/>
                  </a:lnTo>
                  <a:cubicBezTo>
                    <a:pt x="0" y="68469"/>
                    <a:pt x="68469" y="0"/>
                    <a:pt x="152930" y="0"/>
                  </a:cubicBezTo>
                  <a:close/>
                </a:path>
              </a:pathLst>
            </a:custGeom>
            <a:solidFill>
              <a:srgbClr val="FFF5C2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85698" cy="657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Knowledge Tester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(Add-On)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flipH="true" flipV="true">
            <a:off x="11855346" y="4405517"/>
            <a:ext cx="1467299" cy="44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0" id="40"/>
          <p:cNvSpPr/>
          <p:nvPr/>
        </p:nvSpPr>
        <p:spPr>
          <a:xfrm flipH="true">
            <a:off x="10546844" y="1817282"/>
            <a:ext cx="0" cy="6566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1" id="41"/>
          <p:cNvSpPr/>
          <p:nvPr/>
        </p:nvSpPr>
        <p:spPr>
          <a:xfrm flipV="true">
            <a:off x="9787493" y="1813205"/>
            <a:ext cx="30824" cy="6299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flipH="true" flipV="true">
            <a:off x="14420082" y="5507428"/>
            <a:ext cx="0" cy="16247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3" id="43"/>
          <p:cNvGrpSpPr/>
          <p:nvPr/>
        </p:nvGrpSpPr>
        <p:grpSpPr>
          <a:xfrm rot="0">
            <a:off x="15710992" y="5305427"/>
            <a:ext cx="2113437" cy="1386037"/>
            <a:chOff x="0" y="0"/>
            <a:chExt cx="561301" cy="36811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61301" cy="368113"/>
            </a:xfrm>
            <a:custGeom>
              <a:avLst/>
              <a:gdLst/>
              <a:ahLst/>
              <a:cxnLst/>
              <a:rect r="r" b="b" t="t" l="l"/>
              <a:pathLst>
                <a:path h="368113" w="561301">
                  <a:moveTo>
                    <a:pt x="184057" y="0"/>
                  </a:moveTo>
                  <a:lnTo>
                    <a:pt x="377245" y="0"/>
                  </a:lnTo>
                  <a:cubicBezTo>
                    <a:pt x="478896" y="0"/>
                    <a:pt x="561301" y="82405"/>
                    <a:pt x="561301" y="184057"/>
                  </a:cubicBezTo>
                  <a:lnTo>
                    <a:pt x="561301" y="184057"/>
                  </a:lnTo>
                  <a:cubicBezTo>
                    <a:pt x="561301" y="232871"/>
                    <a:pt x="541910" y="279687"/>
                    <a:pt x="507392" y="314204"/>
                  </a:cubicBezTo>
                  <a:cubicBezTo>
                    <a:pt x="472875" y="348722"/>
                    <a:pt x="426059" y="368113"/>
                    <a:pt x="377245" y="368113"/>
                  </a:cubicBezTo>
                  <a:lnTo>
                    <a:pt x="184057" y="368113"/>
                  </a:lnTo>
                  <a:cubicBezTo>
                    <a:pt x="82405" y="368113"/>
                    <a:pt x="0" y="285708"/>
                    <a:pt x="0" y="184057"/>
                  </a:cubicBezTo>
                  <a:lnTo>
                    <a:pt x="0" y="184057"/>
                  </a:lnTo>
                  <a:cubicBezTo>
                    <a:pt x="0" y="82405"/>
                    <a:pt x="82405" y="0"/>
                    <a:pt x="184057" y="0"/>
                  </a:cubicBezTo>
                  <a:close/>
                </a:path>
              </a:pathLst>
            </a:custGeom>
            <a:solidFill>
              <a:srgbClr val="BFE4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61301" cy="406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Agent for Voice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(Add-On)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flipH="true" flipV="true">
            <a:off x="15262619" y="4664891"/>
            <a:ext cx="584039" cy="78956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715046" y="806797"/>
            <a:ext cx="1058465" cy="1058465"/>
          </a:xfrm>
          <a:custGeom>
            <a:avLst/>
            <a:gdLst/>
            <a:ahLst/>
            <a:cxnLst/>
            <a:rect r="r" b="b" t="t" l="l"/>
            <a:pathLst>
              <a:path h="1058465" w="1058465">
                <a:moveTo>
                  <a:pt x="0" y="0"/>
                </a:moveTo>
                <a:lnTo>
                  <a:pt x="1058465" y="0"/>
                </a:lnTo>
                <a:lnTo>
                  <a:pt x="1058465" y="1058464"/>
                </a:lnTo>
                <a:lnTo>
                  <a:pt x="0" y="1058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700898" y="2208161"/>
            <a:ext cx="826995" cy="826995"/>
          </a:xfrm>
          <a:custGeom>
            <a:avLst/>
            <a:gdLst/>
            <a:ahLst/>
            <a:cxnLst/>
            <a:rect r="r" b="b" t="t" l="l"/>
            <a:pathLst>
              <a:path h="826995" w="826995">
                <a:moveTo>
                  <a:pt x="0" y="0"/>
                </a:moveTo>
                <a:lnTo>
                  <a:pt x="826996" y="0"/>
                </a:lnTo>
                <a:lnTo>
                  <a:pt x="826996" y="826995"/>
                </a:lnTo>
                <a:lnTo>
                  <a:pt x="0" y="826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5571636" y="2029693"/>
            <a:ext cx="997106" cy="997106"/>
          </a:xfrm>
          <a:custGeom>
            <a:avLst/>
            <a:gdLst/>
            <a:ahLst/>
            <a:cxnLst/>
            <a:rect r="r" b="b" t="t" l="l"/>
            <a:pathLst>
              <a:path h="997106" w="997106">
                <a:moveTo>
                  <a:pt x="0" y="0"/>
                </a:moveTo>
                <a:lnTo>
                  <a:pt x="997106" y="0"/>
                </a:lnTo>
                <a:lnTo>
                  <a:pt x="997106" y="997106"/>
                </a:lnTo>
                <a:lnTo>
                  <a:pt x="0" y="9971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6854320" y="5832540"/>
            <a:ext cx="858924" cy="858924"/>
          </a:xfrm>
          <a:custGeom>
            <a:avLst/>
            <a:gdLst/>
            <a:ahLst/>
            <a:cxnLst/>
            <a:rect r="r" b="b" t="t" l="l"/>
            <a:pathLst>
              <a:path h="858924" w="858924">
                <a:moveTo>
                  <a:pt x="0" y="0"/>
                </a:moveTo>
                <a:lnTo>
                  <a:pt x="858924" y="0"/>
                </a:lnTo>
                <a:lnTo>
                  <a:pt x="858924" y="858924"/>
                </a:lnTo>
                <a:lnTo>
                  <a:pt x="0" y="8589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1137807" y="2029693"/>
            <a:ext cx="834686" cy="834686"/>
          </a:xfrm>
          <a:custGeom>
            <a:avLst/>
            <a:gdLst/>
            <a:ahLst/>
            <a:cxnLst/>
            <a:rect r="r" b="b" t="t" l="l"/>
            <a:pathLst>
              <a:path h="834686" w="834686">
                <a:moveTo>
                  <a:pt x="0" y="0"/>
                </a:moveTo>
                <a:lnTo>
                  <a:pt x="834686" y="0"/>
                </a:lnTo>
                <a:lnTo>
                  <a:pt x="834686" y="834686"/>
                </a:lnTo>
                <a:lnTo>
                  <a:pt x="0" y="8346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9797713" y="-8568"/>
            <a:ext cx="809211" cy="809211"/>
          </a:xfrm>
          <a:custGeom>
            <a:avLst/>
            <a:gdLst/>
            <a:ahLst/>
            <a:cxnLst/>
            <a:rect r="r" b="b" t="t" l="l"/>
            <a:pathLst>
              <a:path h="809211" w="809211">
                <a:moveTo>
                  <a:pt x="0" y="0"/>
                </a:moveTo>
                <a:lnTo>
                  <a:pt x="809212" y="0"/>
                </a:lnTo>
                <a:lnTo>
                  <a:pt x="809212" y="809211"/>
                </a:lnTo>
                <a:lnTo>
                  <a:pt x="0" y="809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6449698" y="427169"/>
            <a:ext cx="816181" cy="816181"/>
          </a:xfrm>
          <a:custGeom>
            <a:avLst/>
            <a:gdLst/>
            <a:ahLst/>
            <a:cxnLst/>
            <a:rect r="r" b="b" t="t" l="l"/>
            <a:pathLst>
              <a:path h="816181" w="816181">
                <a:moveTo>
                  <a:pt x="0" y="0"/>
                </a:moveTo>
                <a:lnTo>
                  <a:pt x="816180" y="0"/>
                </a:lnTo>
                <a:lnTo>
                  <a:pt x="816180" y="816180"/>
                </a:lnTo>
                <a:lnTo>
                  <a:pt x="0" y="8161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1604125" y="5998445"/>
            <a:ext cx="918239" cy="918239"/>
          </a:xfrm>
          <a:custGeom>
            <a:avLst/>
            <a:gdLst/>
            <a:ahLst/>
            <a:cxnLst/>
            <a:rect r="r" b="b" t="t" l="l"/>
            <a:pathLst>
              <a:path h="918239" w="918239">
                <a:moveTo>
                  <a:pt x="0" y="0"/>
                </a:moveTo>
                <a:lnTo>
                  <a:pt x="918240" y="0"/>
                </a:lnTo>
                <a:lnTo>
                  <a:pt x="918240" y="918239"/>
                </a:lnTo>
                <a:lnTo>
                  <a:pt x="0" y="9182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7111521" y="4980340"/>
            <a:ext cx="712908" cy="712908"/>
          </a:xfrm>
          <a:custGeom>
            <a:avLst/>
            <a:gdLst/>
            <a:ahLst/>
            <a:cxnLst/>
            <a:rect r="r" b="b" t="t" l="l"/>
            <a:pathLst>
              <a:path h="712908" w="712908">
                <a:moveTo>
                  <a:pt x="0" y="0"/>
                </a:moveTo>
                <a:lnTo>
                  <a:pt x="712909" y="0"/>
                </a:lnTo>
                <a:lnTo>
                  <a:pt x="712909" y="712908"/>
                </a:lnTo>
                <a:lnTo>
                  <a:pt x="0" y="7129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5341314" y="6840281"/>
            <a:ext cx="742341" cy="742341"/>
          </a:xfrm>
          <a:custGeom>
            <a:avLst/>
            <a:gdLst/>
            <a:ahLst/>
            <a:cxnLst/>
            <a:rect r="r" b="b" t="t" l="l"/>
            <a:pathLst>
              <a:path h="742341" w="742341">
                <a:moveTo>
                  <a:pt x="0" y="0"/>
                </a:moveTo>
                <a:lnTo>
                  <a:pt x="742341" y="0"/>
                </a:lnTo>
                <a:lnTo>
                  <a:pt x="742341" y="742341"/>
                </a:lnTo>
                <a:lnTo>
                  <a:pt x="0" y="7423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339528" y="952500"/>
            <a:ext cx="6306019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86493" y="0"/>
            <a:ext cx="11115015" cy="10287000"/>
          </a:xfrm>
          <a:custGeom>
            <a:avLst/>
            <a:gdLst/>
            <a:ahLst/>
            <a:cxnLst/>
            <a:rect r="r" b="b" t="t" l="l"/>
            <a:pathLst>
              <a:path h="10287000" w="11115015">
                <a:moveTo>
                  <a:pt x="0" y="0"/>
                </a:moveTo>
                <a:lnTo>
                  <a:pt x="11115014" y="0"/>
                </a:lnTo>
                <a:lnTo>
                  <a:pt x="111150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942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1777"/>
            <a:ext cx="2528697" cy="191832"/>
          </a:xfrm>
          <a:custGeom>
            <a:avLst/>
            <a:gdLst/>
            <a:ahLst/>
            <a:cxnLst/>
            <a:rect r="r" b="b" t="t" l="l"/>
            <a:pathLst>
              <a:path h="191832" w="2528697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18807" y="760603"/>
            <a:ext cx="5705594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Result and Demo Video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1777"/>
            <a:ext cx="2528697" cy="191832"/>
          </a:xfrm>
          <a:custGeom>
            <a:avLst/>
            <a:gdLst/>
            <a:ahLst/>
            <a:cxnLst/>
            <a:rect r="r" b="b" t="t" l="l"/>
            <a:pathLst>
              <a:path h="191832" w="2528697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93048" y="942975"/>
            <a:ext cx="7682225" cy="77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9"/>
              </a:lnSpc>
              <a:spcBef>
                <a:spcPct val="0"/>
              </a:spcBef>
            </a:pPr>
            <a:r>
              <a:rPr lang="en-US" sz="4585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Exisiting Solution and Novelty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34252"/>
            <a:ext cx="7682225" cy="4151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8"/>
              </a:lnSpc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Existing Solutions</a:t>
            </a:r>
          </a:p>
          <a:p>
            <a:pPr algn="l" marL="730677" indent="-365338" lvl="1">
              <a:lnSpc>
                <a:spcPts val="4738"/>
              </a:lnSpc>
              <a:buFont typeface="Arial"/>
              <a:buChar char="•"/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Generic AI responses</a:t>
            </a:r>
          </a:p>
          <a:p>
            <a:pPr algn="l" marL="730677" indent="-365338" lvl="1">
              <a:lnSpc>
                <a:spcPts val="4738"/>
              </a:lnSpc>
              <a:buFont typeface="Arial"/>
              <a:buChar char="•"/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Fixed learning paths for all users</a:t>
            </a:r>
          </a:p>
          <a:p>
            <a:pPr algn="l" marL="730677" indent="-365338" lvl="1">
              <a:lnSpc>
                <a:spcPts val="4738"/>
              </a:lnSpc>
              <a:buFont typeface="Arial"/>
              <a:buChar char="•"/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Little or no long-term learner memory</a:t>
            </a:r>
          </a:p>
          <a:p>
            <a:pPr algn="l" marL="730677" indent="-365338" lvl="1">
              <a:lnSpc>
                <a:spcPts val="4738"/>
              </a:lnSpc>
              <a:buFont typeface="Arial"/>
              <a:buChar char="•"/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Limited personalization</a:t>
            </a:r>
          </a:p>
          <a:p>
            <a:pPr algn="l" marL="730677" indent="-365338" lvl="1">
              <a:lnSpc>
                <a:spcPts val="4738"/>
              </a:lnSpc>
              <a:buFont typeface="Arial"/>
              <a:buChar char="•"/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Focus on answering questions rather than improving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11742" y="3034252"/>
            <a:ext cx="7047558" cy="405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Gurukul AI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Dynamic l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earner persona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Personalized learning tracks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Multi-agent AI (NVIDIA + Gemini)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Context &amp; progress memory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Regional &amp; visual learning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Adaptive teaching strategy</a:t>
            </a:r>
          </a:p>
        </p:txBody>
      </p:sp>
      <p:sp>
        <p:nvSpPr>
          <p:cNvPr name="AutoShape 6" id="6"/>
          <p:cNvSpPr/>
          <p:nvPr/>
        </p:nvSpPr>
        <p:spPr>
          <a:xfrm>
            <a:off x="9541658" y="2640004"/>
            <a:ext cx="0" cy="47387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1777"/>
            <a:ext cx="2528697" cy="191832"/>
          </a:xfrm>
          <a:custGeom>
            <a:avLst/>
            <a:gdLst/>
            <a:ahLst/>
            <a:cxnLst/>
            <a:rect r="r" b="b" t="t" l="l"/>
            <a:pathLst>
              <a:path h="191832" w="2528697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93048" y="1003327"/>
            <a:ext cx="10723484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Summary with future work(Productisation)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48807" y="2438379"/>
            <a:ext cx="11390386" cy="534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0677" indent="-365338" lvl="1">
              <a:lnSpc>
                <a:spcPts val="4738"/>
              </a:lnSpc>
              <a:buFont typeface="Arial"/>
              <a:buChar char="•"/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OCR for handwritten notes</a:t>
            </a:r>
          </a:p>
          <a:p>
            <a:pPr algn="l" marL="730677" indent="-365338" lvl="1">
              <a:lnSpc>
                <a:spcPts val="4738"/>
              </a:lnSpc>
              <a:buFont typeface="Arial"/>
              <a:buChar char="•"/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PDF &amp; document learning</a:t>
            </a:r>
          </a:p>
          <a:p>
            <a:pPr algn="l" marL="730677" indent="-365338" lvl="1">
              <a:lnSpc>
                <a:spcPts val="4738"/>
              </a:lnSpc>
              <a:buFont typeface="Arial"/>
              <a:buChar char="•"/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Image understanding</a:t>
            </a:r>
          </a:p>
          <a:p>
            <a:pPr algn="l" marL="730677" indent="-365338" lvl="1">
              <a:lnSpc>
                <a:spcPts val="4738"/>
              </a:lnSpc>
              <a:buFont typeface="Arial"/>
              <a:buChar char="•"/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Emotional regional TTS</a:t>
            </a:r>
          </a:p>
          <a:p>
            <a:pPr algn="l" marL="730677" indent="-365338" lvl="1">
              <a:lnSpc>
                <a:spcPts val="4738"/>
              </a:lnSpc>
              <a:buFont typeface="Arial"/>
              <a:buChar char="•"/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Parent &amp; teacher dashboards</a:t>
            </a:r>
          </a:p>
          <a:p>
            <a:pPr algn="l" marL="730677" indent="-365338" lvl="1">
              <a:lnSpc>
                <a:spcPts val="4738"/>
              </a:lnSpc>
              <a:buFont typeface="Arial"/>
              <a:buChar char="•"/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Learning analytics</a:t>
            </a:r>
          </a:p>
          <a:p>
            <a:pPr algn="l" marL="730677" indent="-365338" lvl="1">
              <a:lnSpc>
                <a:spcPts val="4738"/>
              </a:lnSpc>
              <a:buFont typeface="Arial"/>
              <a:buChar char="•"/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Multi-device synchronization</a:t>
            </a:r>
          </a:p>
          <a:p>
            <a:pPr algn="l" marL="730677" indent="-365338" lvl="1">
              <a:lnSpc>
                <a:spcPts val="4738"/>
              </a:lnSpc>
              <a:buFont typeface="Arial"/>
              <a:buChar char="•"/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Offline mode</a:t>
            </a:r>
          </a:p>
          <a:p>
            <a:pPr algn="l" marL="730677" indent="-365338" lvl="1">
              <a:lnSpc>
                <a:spcPts val="4738"/>
              </a:lnSpc>
              <a:buFont typeface="Arial"/>
              <a:buChar char="•"/>
            </a:pPr>
            <a:r>
              <a:rPr lang="en-US" sz="3384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LMS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07652" y="3507152"/>
            <a:ext cx="3272697" cy="3272697"/>
          </a:xfrm>
          <a:custGeom>
            <a:avLst/>
            <a:gdLst/>
            <a:ahLst/>
            <a:cxnLst/>
            <a:rect r="r" b="b" t="t" l="l"/>
            <a:pathLst>
              <a:path h="3272697" w="3272697">
                <a:moveTo>
                  <a:pt x="0" y="0"/>
                </a:moveTo>
                <a:lnTo>
                  <a:pt x="3272696" y="0"/>
                </a:lnTo>
                <a:lnTo>
                  <a:pt x="3272696" y="3272696"/>
                </a:lnTo>
                <a:lnTo>
                  <a:pt x="0" y="3272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1777"/>
            <a:ext cx="2528697" cy="191832"/>
          </a:xfrm>
          <a:custGeom>
            <a:avLst/>
            <a:gdLst/>
            <a:ahLst/>
            <a:cxnLst/>
            <a:rect r="r" b="b" t="t" l="l"/>
            <a:pathLst>
              <a:path h="191832" w="2528697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60510" y="2871415"/>
            <a:ext cx="12166981" cy="579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Frontend: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Still need to start on building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Backend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: Django server with LearnerProfile and MistakeLog models.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Multi-Agent AI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: NVIDIA Llama 3.1 + Gemini APIs integrated and working together.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Adaptive Learning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: AI personalizes lessons.</a:t>
            </a:r>
          </a:p>
          <a:p>
            <a:pPr algn="l">
              <a:lnSpc>
                <a:spcPts val="4620"/>
              </a:lnSpc>
            </a:pPr>
          </a:p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Current Status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: 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Core AI pipeline is fully functional; integrating with Django frontend.</a:t>
            </a: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39033" y="846328"/>
            <a:ext cx="1038708" cy="1038708"/>
          </a:xfrm>
          <a:custGeom>
            <a:avLst/>
            <a:gdLst/>
            <a:ahLst/>
            <a:cxnLst/>
            <a:rect r="r" b="b" t="t" l="l"/>
            <a:pathLst>
              <a:path h="1038708" w="1038708">
                <a:moveTo>
                  <a:pt x="0" y="0"/>
                </a:moveTo>
                <a:lnTo>
                  <a:pt x="1038708" y="0"/>
                </a:lnTo>
                <a:lnTo>
                  <a:pt x="1038708" y="1038708"/>
                </a:lnTo>
                <a:lnTo>
                  <a:pt x="0" y="1038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39033" y="1022338"/>
            <a:ext cx="13782434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Current Development &amp; Preliminary Results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62166" y="87828"/>
            <a:ext cx="13163669" cy="10111343"/>
          </a:xfrm>
          <a:custGeom>
            <a:avLst/>
            <a:gdLst/>
            <a:ahLst/>
            <a:cxnLst/>
            <a:rect r="r" b="b" t="t" l="l"/>
            <a:pathLst>
              <a:path h="10111343" w="13163669">
                <a:moveTo>
                  <a:pt x="0" y="0"/>
                </a:moveTo>
                <a:lnTo>
                  <a:pt x="13163668" y="0"/>
                </a:lnTo>
                <a:lnTo>
                  <a:pt x="13163668" y="10111344"/>
                </a:lnTo>
                <a:lnTo>
                  <a:pt x="0" y="10111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62166" y="2103"/>
            <a:ext cx="6126798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Initial Wireframe Design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show="false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0510" y="1489566"/>
            <a:ext cx="12166981" cy="637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Target Beneficiaries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Individual farmers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Farmer Producer Organizations (FPOs)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Rural microfinance institutions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Agricultural cooperatives and banks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Significance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Over 65% of Indian farmers lack access to formal credit.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Unpredictable weather and lack of risk evaluation tools worsen financial instability.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Empowering farmers with fair credit scores ensures financial inclusion and climate resilience.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5772" y="908735"/>
            <a:ext cx="7505700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Value Proposition &amp; Its Impact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79960" y="1941881"/>
            <a:ext cx="14528080" cy="7536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Impact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Gives banks data-driven confidence to lend to rural farmers.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Provides farmers with transparent and fair access to credit.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Key Benefits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 Improved credit access for unbanked farmers.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 Disaster-aware scoring minimizes financial losses for both banks and farmers.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 Secure and scalable system using AI and encryption.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Climate resilience through early disaster prediction.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Uniqueness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Introduces a “Disaster Prediction Parameter”, not found in existing credit scoring models.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Uses alternate, non-traditional data — such as weather, tech usage, and crop patterns — to ensure fairness.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01777"/>
            <a:ext cx="2528697" cy="191832"/>
          </a:xfrm>
          <a:custGeom>
            <a:avLst/>
            <a:gdLst/>
            <a:ahLst/>
            <a:cxnLst/>
            <a:rect r="r" b="b" t="t" l="l"/>
            <a:pathLst>
              <a:path h="191832" w="2528697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93048" y="942975"/>
            <a:ext cx="7986356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Market Opportunity &amp; TAM size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24616" y="2688741"/>
            <a:ext cx="14052789" cy="521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Mark</a:t>
            </a: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et Opportunity</a:t>
            </a:r>
          </a:p>
          <a:p>
            <a:pPr algn="l" marL="712470" indent="-356235" lvl="1">
              <a:lnSpc>
                <a:spcPts val="4620"/>
              </a:lnSpc>
              <a:spcBef>
                <a:spcPct val="0"/>
              </a:spcBef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India has ~140 million farmers, of which only ~30% have formal credit access.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Agri-fintech market in India projected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 to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 re</a:t>
            </a: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ach USD 24 billion by 2030.</a:t>
            </a:r>
          </a:p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Adjacent Opportunities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Crop insurance risk modeling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Microloan management for rural businesses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Government welfare and subsidy verification systems</a:t>
            </a: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01777"/>
            <a:ext cx="2528697" cy="191832"/>
          </a:xfrm>
          <a:custGeom>
            <a:avLst/>
            <a:gdLst/>
            <a:ahLst/>
            <a:cxnLst/>
            <a:rect r="r" b="b" t="t" l="l"/>
            <a:pathLst>
              <a:path h="191832" w="2528697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93048" y="942975"/>
            <a:ext cx="5089089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Team &amp; Partnership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40605" y="2232920"/>
            <a:ext cx="12446080" cy="637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Team Composition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AI/ML Developer: Builds and trains predictive credit models.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Data Analyst: Handles alternate data preprocessing and integration.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Agriculture Expert: Validates farm and environmental parameters.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Frontend Developer: Builds user-friendly web dashboard.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Cybersecurity Lead: Manages encryption and data privacy.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Potential Partnerships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NABARD, SBI, and other rural banks.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IMD (Indian Meteorological Department) for weather API data.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Agri-tech startups for farm and yield data.</a:t>
            </a:r>
          </a:p>
          <a:p>
            <a:pPr algn="l" marL="712470" indent="-356235" lvl="1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Government schemes like PM-Kisan, PMFBY.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01777"/>
            <a:ext cx="2528697" cy="191832"/>
          </a:xfrm>
          <a:custGeom>
            <a:avLst/>
            <a:gdLst/>
            <a:ahLst/>
            <a:cxnLst/>
            <a:rect r="r" b="b" t="t" l="l"/>
            <a:pathLst>
              <a:path h="191832" w="2528697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7586" y="788170"/>
            <a:ext cx="16852828" cy="8710659"/>
          </a:xfrm>
          <a:custGeom>
            <a:avLst/>
            <a:gdLst/>
            <a:ahLst/>
            <a:cxnLst/>
            <a:rect r="r" b="b" t="t" l="l"/>
            <a:pathLst>
              <a:path h="8710659" w="16852828">
                <a:moveTo>
                  <a:pt x="0" y="0"/>
                </a:moveTo>
                <a:lnTo>
                  <a:pt x="16852828" y="0"/>
                </a:lnTo>
                <a:lnTo>
                  <a:pt x="16852828" y="8710660"/>
                </a:lnTo>
                <a:lnTo>
                  <a:pt x="0" y="8710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791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1893630"/>
          <a:ext cx="5657850" cy="5029200"/>
        </p:xfrm>
        <a:graphic>
          <a:graphicData uri="http://schemas.openxmlformats.org/presentationml/2006/ole">
            <p:oleObj imgW="6781800" imgH="6159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231779" y="853247"/>
            <a:ext cx="2651235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Budget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01777"/>
            <a:ext cx="2528697" cy="191832"/>
          </a:xfrm>
          <a:custGeom>
            <a:avLst/>
            <a:gdLst/>
            <a:ahLst/>
            <a:cxnLst/>
            <a:rect r="r" b="b" t="t" l="l"/>
            <a:pathLst>
              <a:path h="191832" w="2528697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9813" y="-191833"/>
            <a:ext cx="14968373" cy="10287000"/>
          </a:xfrm>
          <a:custGeom>
            <a:avLst/>
            <a:gdLst/>
            <a:ahLst/>
            <a:cxnLst/>
            <a:rect r="r" b="b" t="t" l="l"/>
            <a:pathLst>
              <a:path h="10287000" w="14968373">
                <a:moveTo>
                  <a:pt x="0" y="0"/>
                </a:moveTo>
                <a:lnTo>
                  <a:pt x="14968374" y="0"/>
                </a:lnTo>
                <a:lnTo>
                  <a:pt x="1496837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135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bg>
      <p:bgPr>
        <a:solidFill>
          <a:srgbClr val="EB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93048" y="942975"/>
            <a:ext cx="7513532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9"/>
              </a:lnSpc>
              <a:spcBef>
                <a:spcPct val="0"/>
              </a:spcBef>
            </a:pPr>
            <a:r>
              <a:rPr lang="en-US" sz="4699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Research and 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80138" y="2213610"/>
            <a:ext cx="14652885" cy="579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4620"/>
              </a:lnSpc>
              <a:buAutoNum type="arabicPeriod" startAt="1"/>
            </a:pPr>
            <a:r>
              <a:rPr lang="en-US" sz="3300" spc="138" u="sng">
                <a:solidFill>
                  <a:srgbClr val="0000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  <a:hlinkClick r:id="rId2" tooltip="https://www.mdpi.com/2227-9091/9/11/192"/>
              </a:rPr>
              <a:t>“</a:t>
            </a:r>
            <a:r>
              <a:rPr lang="en-US" sz="3300" spc="138" u="sng">
                <a:solidFill>
                  <a:srgbClr val="0000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  <a:hlinkClick r:id="rId3" tooltip="https://www.mdpi.com/2227-9091/9/11/192"/>
              </a:rPr>
              <a:t>Machine Learning (ML) Techn</a:t>
            </a:r>
            <a:r>
              <a:rPr lang="en-US" sz="3300" spc="138" u="sng">
                <a:solidFill>
                  <a:srgbClr val="0000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  <a:hlinkClick r:id="rId4" tooltip="https://www.mdpi.com/2227-9091/9/11/192"/>
              </a:rPr>
              <a:t>ologies for Digital Credit Scoring in Rural Finance: A Literature Review” by Anil Kumar,Suneel Sharmaand and Mehregan Mahdavi</a:t>
            </a:r>
            <a:r>
              <a:rPr lang="en-US" sz="3300" spc="138" u="sng">
                <a:solidFill>
                  <a:srgbClr val="0000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  <a:hlinkClick r:id="rId5" tooltip="https://www.mdpi.com/2227-9091/9/11/192"/>
              </a:rPr>
              <a:t>(2021)</a:t>
            </a:r>
          </a:p>
          <a:p>
            <a:pPr algn="l" marL="712470" indent="-356235" lvl="1">
              <a:lnSpc>
                <a:spcPts val="4620"/>
              </a:lnSpc>
              <a:buAutoNum type="arabicPeriod" startAt="1"/>
            </a:pPr>
            <a:r>
              <a:rPr lang="en-US" sz="3300" spc="138" u="sng">
                <a:solidFill>
                  <a:srgbClr val="0000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  <a:hlinkClick r:id="rId6" tooltip="https://www.researchgate.net/publication/368338344_Credit_Scoring_Model_for_Farmers_using_Random_Forest"/>
              </a:rPr>
              <a:t>“Credit Scoring Model for Farmers using Random Forest” by Kharida Aulia Bahri,Yeni Herdiyeni,Suprehatin Suprehatin(2023).</a:t>
            </a:r>
          </a:p>
          <a:p>
            <a:pPr algn="l" marL="712470" indent="-356235" lvl="1">
              <a:lnSpc>
                <a:spcPts val="4620"/>
              </a:lnSpc>
              <a:buAutoNum type="arabicPeriod" startAt="1"/>
            </a:pPr>
            <a:r>
              <a:rPr lang="en-US" sz="3300" spc="138" u="sng">
                <a:solidFill>
                  <a:srgbClr val="0000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  <a:hlinkClick r:id="rId7" tooltip="https://digicraft.ai/2025/06/19/transforming-credit-access-built-an-ai-driven-lending-ecosystem/"/>
              </a:rPr>
              <a:t>“Transforming Credit Access: Built an AI-Driven Lending Ecosystem”(2025)</a:t>
            </a:r>
          </a:p>
          <a:p>
            <a:pPr algn="l" marL="712470" indent="-356235" lvl="1">
              <a:lnSpc>
                <a:spcPts val="4620"/>
              </a:lnSpc>
              <a:buAutoNum type="arabicPeriod" startAt="1"/>
            </a:pPr>
            <a:r>
              <a:rPr lang="en-US" sz="3300" spc="138" u="sng">
                <a:solidFill>
                  <a:srgbClr val="0000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  <a:hlinkClick r:id="rId8" tooltip="https://www.kaggle.com/datasets/anshumish/crop-yield-data-with-soil-and-weather-dataset"/>
              </a:rPr>
              <a:t>“Crop yield Data with Soil And Weather Dataset”</a:t>
            </a:r>
          </a:p>
          <a:p>
            <a:pPr algn="l" marL="712470" indent="-356235" lvl="1">
              <a:lnSpc>
                <a:spcPts val="4620"/>
              </a:lnSpc>
              <a:buAutoNum type="arabicPeriod" startAt="1"/>
            </a:pPr>
            <a:r>
              <a:rPr lang="en-US" sz="3300" spc="138" u="sng">
                <a:solidFill>
                  <a:srgbClr val="0000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  <a:hlinkClick r:id="rId9" tooltip="https://data.mendeley.com/datasets/nfj84km5fz/1"/>
              </a:rPr>
              <a:t>“Agriculture Data set in the Karnataka”</a:t>
            </a:r>
          </a:p>
          <a:p>
            <a:pPr algn="l" marL="712470" indent="-356235" lvl="1">
              <a:lnSpc>
                <a:spcPts val="4620"/>
              </a:lnSpc>
              <a:buAutoNum type="arabicPeriod" startAt="1"/>
            </a:pPr>
            <a:r>
              <a:rPr lang="en-US" sz="3300" spc="138" u="sng">
                <a:solidFill>
                  <a:srgbClr val="0000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  <a:hlinkClick r:id="rId10" tooltip="https://www.kaggle.com/datasets/umeradnaan/prediction-of-disaster-management-in-2024"/>
              </a:rPr>
              <a:t>“Forecasting Disaster Management in 2024”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01777"/>
            <a:ext cx="2528697" cy="191832"/>
          </a:xfrm>
          <a:custGeom>
            <a:avLst/>
            <a:gdLst/>
            <a:ahLst/>
            <a:cxnLst/>
            <a:rect r="r" b="b" t="t" l="l"/>
            <a:pathLst>
              <a:path h="191832" w="2528697">
                <a:moveTo>
                  <a:pt x="0" y="0"/>
                </a:moveTo>
                <a:lnTo>
                  <a:pt x="2528697" y="0"/>
                </a:lnTo>
                <a:lnTo>
                  <a:pt x="2528697" y="191832"/>
                </a:lnTo>
                <a:lnTo>
                  <a:pt x="0" y="1918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DAHRA7xIWlQ</dc:identifier>
  <dcterms:modified xsi:type="dcterms:W3CDTF">2011-08-01T06:04:30Z</dcterms:modified>
  <cp:revision>1</cp:revision>
  <dc:title>NIT Trichy Hackathon 2</dc:title>
</cp:coreProperties>
</file>