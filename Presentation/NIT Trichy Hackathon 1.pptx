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Noto Serif Ethiopic Condensed" panose="020B0604020202020204" charset="0"/>
      <p:regular r:id="rId9"/>
    </p:embeddedFont>
    <p:embeddedFont>
      <p:font typeface="Noto Serif Ethiopic Condensed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8608" y="4308645"/>
            <a:ext cx="8579796" cy="4504393"/>
          </a:xfrm>
          <a:custGeom>
            <a:avLst/>
            <a:gdLst/>
            <a:ahLst/>
            <a:cxnLst/>
            <a:rect l="l" t="t" r="r" b="b"/>
            <a:pathLst>
              <a:path w="8579796" h="4504393">
                <a:moveTo>
                  <a:pt x="0" y="0"/>
                </a:moveTo>
                <a:lnTo>
                  <a:pt x="8579796" y="0"/>
                </a:lnTo>
                <a:lnTo>
                  <a:pt x="8579796" y="4504393"/>
                </a:lnTo>
                <a:lnTo>
                  <a:pt x="0" y="450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56997" y="1166885"/>
            <a:ext cx="6215790" cy="4656191"/>
          </a:xfrm>
          <a:custGeom>
            <a:avLst/>
            <a:gdLst/>
            <a:ahLst/>
            <a:cxnLst/>
            <a:rect l="l" t="t" r="r" b="b"/>
            <a:pathLst>
              <a:path w="6215790" h="4656191">
                <a:moveTo>
                  <a:pt x="0" y="0"/>
                </a:moveTo>
                <a:lnTo>
                  <a:pt x="6215790" y="0"/>
                </a:lnTo>
                <a:lnTo>
                  <a:pt x="6215790" y="4656191"/>
                </a:lnTo>
                <a:lnTo>
                  <a:pt x="0" y="4656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2074226"/>
            <a:ext cx="12000694" cy="162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Gurukul Learning: 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Ancient Method meeting Modern Day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00393" y="6666769"/>
            <a:ext cx="6773062" cy="317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Id: H26EDU03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Lead: Nagella Venkata Siva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Sai Advik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Members: Barath Kumar S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Collage Name: Kumaraguru Collage of Technology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               </a:t>
            </a:r>
          </a:p>
          <a:p>
            <a:pPr algn="just">
              <a:lnSpc>
                <a:spcPts val="3616"/>
              </a:lnSpc>
            </a:pPr>
            <a:endParaRPr lang="en-US" sz="2582">
              <a:solidFill>
                <a:srgbClr val="000000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01777"/>
            <a:ext cx="2528697" cy="191832"/>
          </a:xfrm>
          <a:custGeom>
            <a:avLst/>
            <a:gdLst/>
            <a:ahLst/>
            <a:cxnLst/>
            <a:rect l="l" t="t" r="r" b="b"/>
            <a:pathLst>
              <a:path w="2528697" h="191832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791039" y="1269013"/>
            <a:ext cx="984969" cy="984969"/>
          </a:xfrm>
          <a:custGeom>
            <a:avLst/>
            <a:gdLst/>
            <a:ahLst/>
            <a:cxnLst/>
            <a:rect l="l" t="t" r="r" b="b"/>
            <a:pathLst>
              <a:path w="984969" h="984969">
                <a:moveTo>
                  <a:pt x="0" y="0"/>
                </a:moveTo>
                <a:lnTo>
                  <a:pt x="984969" y="0"/>
                </a:lnTo>
                <a:lnTo>
                  <a:pt x="984969" y="984969"/>
                </a:lnTo>
                <a:lnTo>
                  <a:pt x="0" y="984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872156" y="4476750"/>
            <a:ext cx="841785" cy="841785"/>
          </a:xfrm>
          <a:custGeom>
            <a:avLst/>
            <a:gdLst/>
            <a:ahLst/>
            <a:cxnLst/>
            <a:rect l="l" t="t" r="r" b="b"/>
            <a:pathLst>
              <a:path w="841785" h="841785">
                <a:moveTo>
                  <a:pt x="0" y="0"/>
                </a:moveTo>
                <a:lnTo>
                  <a:pt x="841785" y="0"/>
                </a:lnTo>
                <a:lnTo>
                  <a:pt x="841785" y="841785"/>
                </a:lnTo>
                <a:lnTo>
                  <a:pt x="0" y="841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842787" y="6798602"/>
            <a:ext cx="900523" cy="900523"/>
          </a:xfrm>
          <a:custGeom>
            <a:avLst/>
            <a:gdLst/>
            <a:ahLst/>
            <a:cxnLst/>
            <a:rect l="l" t="t" r="r" b="b"/>
            <a:pathLst>
              <a:path w="900523" h="900523">
                <a:moveTo>
                  <a:pt x="0" y="0"/>
                </a:moveTo>
                <a:lnTo>
                  <a:pt x="900523" y="0"/>
                </a:lnTo>
                <a:lnTo>
                  <a:pt x="900523" y="900523"/>
                </a:lnTo>
                <a:lnTo>
                  <a:pt x="0" y="90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958366" y="4646663"/>
            <a:ext cx="12173317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Objective: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Democratize elite-level, personalized mentorship at consumer scale.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23831" y="1263975"/>
            <a:ext cx="9096375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Problem Definition &amp; Its Significance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76181" y="2444482"/>
            <a:ext cx="13396253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Historically, high-quality, 1-on-1 tutoring is an exclusive privilege.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Mass education systems face impossible student-to-teacher ratios.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Result: Millions fall behind in foundational logic, literacy, and numeracy.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11735" y="6979920"/>
            <a:ext cx="14706706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Approach:</a:t>
            </a:r>
          </a:p>
          <a:p>
            <a:pPr marL="712470" lvl="1" indent="-356235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Build a multi-agent AI tutor that dynamically adapts its teaching metaphor, regional dialect, and difficulty based on the learner's age and passions.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000000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01777"/>
            <a:ext cx="2528697" cy="191832"/>
          </a:xfrm>
          <a:custGeom>
            <a:avLst/>
            <a:gdLst/>
            <a:ahLst/>
            <a:cxnLst/>
            <a:rect l="l" t="t" r="r" b="b"/>
            <a:pathLst>
              <a:path w="2528697" h="191832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81813" y="835388"/>
            <a:ext cx="862014" cy="862014"/>
          </a:xfrm>
          <a:custGeom>
            <a:avLst/>
            <a:gdLst/>
            <a:ahLst/>
            <a:cxnLst/>
            <a:rect l="l" t="t" r="r" b="b"/>
            <a:pathLst>
              <a:path w="862014" h="862014">
                <a:moveTo>
                  <a:pt x="0" y="0"/>
                </a:moveTo>
                <a:lnTo>
                  <a:pt x="862014" y="0"/>
                </a:lnTo>
                <a:lnTo>
                  <a:pt x="862014" y="862014"/>
                </a:lnTo>
                <a:lnTo>
                  <a:pt x="0" y="862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581813" y="5015670"/>
            <a:ext cx="1019453" cy="1019453"/>
          </a:xfrm>
          <a:custGeom>
            <a:avLst/>
            <a:gdLst/>
            <a:ahLst/>
            <a:cxnLst/>
            <a:rect l="l" t="t" r="r" b="b"/>
            <a:pathLst>
              <a:path w="1019453" h="1019453">
                <a:moveTo>
                  <a:pt x="0" y="0"/>
                </a:moveTo>
                <a:lnTo>
                  <a:pt x="1019454" y="0"/>
                </a:lnTo>
                <a:lnTo>
                  <a:pt x="1019454" y="1019453"/>
                </a:lnTo>
                <a:lnTo>
                  <a:pt x="0" y="1019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814366" y="5143931"/>
            <a:ext cx="12173317" cy="346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Current Gap: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Adaptive Persona &amp; Tone: Missing in current solutions.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Regional Dialect/Idioms: Missing in current solutions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Non-linear Fallback Routing: Missing (Standard AI just repeats "Try Again").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43306" y="760603"/>
            <a:ext cx="7056597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Literature Survey &amp; The Gap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76181" y="1630727"/>
            <a:ext cx="13995054" cy="288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Existing EdTech AI acts like a rigid encyclopedia. It hallucinates and lacks emotional intelligence.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Great teachers use regional dialects, local culture, and students' personal interests to make learning more relatable and effective.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Current AI fails to replicate this human connection.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01777"/>
            <a:ext cx="2528697" cy="191832"/>
          </a:xfrm>
          <a:custGeom>
            <a:avLst/>
            <a:gdLst/>
            <a:ahLst/>
            <a:cxnLst/>
            <a:rect l="l" t="t" r="r" b="b"/>
            <a:pathLst>
              <a:path w="2528697" h="191832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561775" y="2810898"/>
            <a:ext cx="3105243" cy="2319625"/>
            <a:chOff x="0" y="0"/>
            <a:chExt cx="1088081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8081" cy="812800"/>
            </a:xfrm>
            <a:custGeom>
              <a:avLst/>
              <a:gdLst/>
              <a:ahLst/>
              <a:cxnLst/>
              <a:rect l="l" t="t" r="r" b="b"/>
              <a:pathLst>
                <a:path w="1088081" h="812800">
                  <a:moveTo>
                    <a:pt x="544041" y="0"/>
                  </a:moveTo>
                  <a:cubicBezTo>
                    <a:pt x="243575" y="0"/>
                    <a:pt x="0" y="181951"/>
                    <a:pt x="0" y="406400"/>
                  </a:cubicBezTo>
                  <a:cubicBezTo>
                    <a:pt x="0" y="630849"/>
                    <a:pt x="243575" y="812800"/>
                    <a:pt x="544041" y="812800"/>
                  </a:cubicBezTo>
                  <a:cubicBezTo>
                    <a:pt x="844506" y="812800"/>
                    <a:pt x="1088081" y="630849"/>
                    <a:pt x="1088081" y="406400"/>
                  </a:cubicBezTo>
                  <a:cubicBezTo>
                    <a:pt x="1088081" y="181951"/>
                    <a:pt x="844506" y="0"/>
                    <a:pt x="544041" y="0"/>
                  </a:cubicBezTo>
                  <a:close/>
                </a:path>
              </a:pathLst>
            </a:custGeom>
            <a:solidFill>
              <a:srgbClr val="D5FD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008" y="38100"/>
              <a:ext cx="88406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Learner UI(Web/Mobile Interface)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97697" y="2810898"/>
            <a:ext cx="2581821" cy="2332667"/>
            <a:chOff x="0" y="0"/>
            <a:chExt cx="685698" cy="6195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698" cy="619526"/>
            </a:xfrm>
            <a:custGeom>
              <a:avLst/>
              <a:gdLst/>
              <a:ahLst/>
              <a:cxnLst/>
              <a:rect l="l" t="t" r="r" b="b"/>
              <a:pathLst>
                <a:path w="685698" h="619526">
                  <a:moveTo>
                    <a:pt x="152930" y="0"/>
                  </a:moveTo>
                  <a:lnTo>
                    <a:pt x="532768" y="0"/>
                  </a:lnTo>
                  <a:cubicBezTo>
                    <a:pt x="617229" y="0"/>
                    <a:pt x="685698" y="68469"/>
                    <a:pt x="685698" y="152930"/>
                  </a:cubicBezTo>
                  <a:lnTo>
                    <a:pt x="685698" y="466596"/>
                  </a:lnTo>
                  <a:cubicBezTo>
                    <a:pt x="685698" y="551057"/>
                    <a:pt x="617229" y="619526"/>
                    <a:pt x="532768" y="619526"/>
                  </a:cubicBezTo>
                  <a:lnTo>
                    <a:pt x="152930" y="619526"/>
                  </a:lnTo>
                  <a:cubicBezTo>
                    <a:pt x="68469" y="619526"/>
                    <a:pt x="0" y="551057"/>
                    <a:pt x="0" y="466596"/>
                  </a:cubicBezTo>
                  <a:lnTo>
                    <a:pt x="0" y="152930"/>
                  </a:lnTo>
                  <a:cubicBezTo>
                    <a:pt x="0" y="68469"/>
                    <a:pt x="68469" y="0"/>
                    <a:pt x="152930" y="0"/>
                  </a:cubicBezTo>
                  <a:close/>
                </a:path>
              </a:pathLst>
            </a:custGeom>
            <a:solidFill>
              <a:srgbClr val="FFF5C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85698" cy="657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Backend Server (State and Routing Managet)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97697" y="6158453"/>
            <a:ext cx="2581821" cy="2497870"/>
            <a:chOff x="0" y="0"/>
            <a:chExt cx="685698" cy="6634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5698" cy="663401"/>
            </a:xfrm>
            <a:custGeom>
              <a:avLst/>
              <a:gdLst/>
              <a:ahLst/>
              <a:cxnLst/>
              <a:rect l="l" t="t" r="r" b="b"/>
              <a:pathLst>
                <a:path w="685698" h="663401">
                  <a:moveTo>
                    <a:pt x="152930" y="0"/>
                  </a:moveTo>
                  <a:lnTo>
                    <a:pt x="532768" y="0"/>
                  </a:lnTo>
                  <a:cubicBezTo>
                    <a:pt x="617229" y="0"/>
                    <a:pt x="685698" y="68469"/>
                    <a:pt x="685698" y="152930"/>
                  </a:cubicBezTo>
                  <a:lnTo>
                    <a:pt x="685698" y="510471"/>
                  </a:lnTo>
                  <a:cubicBezTo>
                    <a:pt x="685698" y="594932"/>
                    <a:pt x="617229" y="663401"/>
                    <a:pt x="532768" y="663401"/>
                  </a:cubicBezTo>
                  <a:lnTo>
                    <a:pt x="152930" y="663401"/>
                  </a:lnTo>
                  <a:cubicBezTo>
                    <a:pt x="68469" y="663401"/>
                    <a:pt x="0" y="594932"/>
                    <a:pt x="0" y="510471"/>
                  </a:cubicBezTo>
                  <a:lnTo>
                    <a:pt x="0" y="152930"/>
                  </a:lnTo>
                  <a:cubicBezTo>
                    <a:pt x="0" y="68469"/>
                    <a:pt x="68469" y="0"/>
                    <a:pt x="152930" y="0"/>
                  </a:cubicBezTo>
                  <a:close/>
                </a:path>
              </a:pathLst>
            </a:custGeom>
            <a:solidFill>
              <a:srgbClr val="D7D9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85698" cy="701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Database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01841" y="2447036"/>
            <a:ext cx="3060392" cy="306039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9015" y="0"/>
                  </a:moveTo>
                  <a:lnTo>
                    <a:pt x="683785" y="0"/>
                  </a:lnTo>
                  <a:cubicBezTo>
                    <a:pt x="755038" y="0"/>
                    <a:pt x="812800" y="57762"/>
                    <a:pt x="812800" y="129015"/>
                  </a:cubicBezTo>
                  <a:lnTo>
                    <a:pt x="812800" y="683785"/>
                  </a:lnTo>
                  <a:cubicBezTo>
                    <a:pt x="812800" y="755038"/>
                    <a:pt x="755038" y="812800"/>
                    <a:pt x="683785" y="812800"/>
                  </a:cubicBezTo>
                  <a:lnTo>
                    <a:pt x="129015" y="812800"/>
                  </a:lnTo>
                  <a:cubicBezTo>
                    <a:pt x="57762" y="812800"/>
                    <a:pt x="0" y="755038"/>
                    <a:pt x="0" y="683785"/>
                  </a:cubicBezTo>
                  <a:lnTo>
                    <a:pt x="0" y="129015"/>
                  </a:lnTo>
                  <a:cubicBezTo>
                    <a:pt x="0" y="57762"/>
                    <a:pt x="57762" y="0"/>
                    <a:pt x="129015" y="0"/>
                  </a:cubicBezTo>
                  <a:close/>
                </a:path>
              </a:pathLst>
            </a:custGeom>
            <a:solidFill>
              <a:srgbClr val="D7D9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Multi - Agent API Model</a:t>
              </a:r>
            </a:p>
            <a:p>
              <a:pPr marL="410209" lvl="1" indent="-205105" algn="l">
                <a:lnSpc>
                  <a:spcPts val="2659"/>
                </a:lnSpc>
                <a:buAutoNum type="arabicPeriod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A : Context Taker</a:t>
              </a:r>
            </a:p>
            <a:p>
              <a:pPr marL="410209" lvl="1" indent="-205105" algn="l">
                <a:lnSpc>
                  <a:spcPts val="2659"/>
                </a:lnSpc>
                <a:buAutoNum type="arabicPeriod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B: Learning Loop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89886" y="2447036"/>
            <a:ext cx="3060392" cy="306039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FD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Relevancy and Rule Evaluvator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96549" y="431069"/>
            <a:ext cx="1870976" cy="1386037"/>
            <a:chOff x="0" y="0"/>
            <a:chExt cx="496907" cy="3681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6907" cy="368113"/>
            </a:xfrm>
            <a:custGeom>
              <a:avLst/>
              <a:gdLst/>
              <a:ahLst/>
              <a:cxnLst/>
              <a:rect l="l" t="t" r="r" b="b"/>
              <a:pathLst>
                <a:path w="496907" h="368113">
                  <a:moveTo>
                    <a:pt x="184057" y="0"/>
                  </a:moveTo>
                  <a:lnTo>
                    <a:pt x="312850" y="0"/>
                  </a:lnTo>
                  <a:cubicBezTo>
                    <a:pt x="414502" y="0"/>
                    <a:pt x="496907" y="82405"/>
                    <a:pt x="496907" y="184057"/>
                  </a:cubicBezTo>
                  <a:lnTo>
                    <a:pt x="496907" y="184057"/>
                  </a:lnTo>
                  <a:cubicBezTo>
                    <a:pt x="496907" y="232871"/>
                    <a:pt x="477515" y="279687"/>
                    <a:pt x="442998" y="314204"/>
                  </a:cubicBezTo>
                  <a:cubicBezTo>
                    <a:pt x="408480" y="348722"/>
                    <a:pt x="361665" y="368113"/>
                    <a:pt x="312850" y="368113"/>
                  </a:cubicBezTo>
                  <a:lnTo>
                    <a:pt x="184057" y="368113"/>
                  </a:lnTo>
                  <a:cubicBezTo>
                    <a:pt x="82405" y="368113"/>
                    <a:pt x="0" y="285708"/>
                    <a:pt x="0" y="184057"/>
                  </a:cubicBezTo>
                  <a:lnTo>
                    <a:pt x="0" y="184057"/>
                  </a:lnTo>
                  <a:cubicBezTo>
                    <a:pt x="0" y="82405"/>
                    <a:pt x="82405" y="0"/>
                    <a:pt x="184057" y="0"/>
                  </a:cubicBezTo>
                  <a:close/>
                </a:path>
              </a:pathLst>
            </a:custGeom>
            <a:solidFill>
              <a:srgbClr val="BFE4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96907" cy="406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Gemini API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341314" y="918924"/>
            <a:ext cx="3032948" cy="2037975"/>
            <a:chOff x="0" y="0"/>
            <a:chExt cx="120962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09622" cy="812800"/>
            </a:xfrm>
            <a:custGeom>
              <a:avLst/>
              <a:gdLst/>
              <a:ahLst/>
              <a:cxnLst/>
              <a:rect l="l" t="t" r="r" b="b"/>
              <a:pathLst>
                <a:path w="1209622" h="812800">
                  <a:moveTo>
                    <a:pt x="604811" y="0"/>
                  </a:moveTo>
                  <a:cubicBezTo>
                    <a:pt x="270783" y="0"/>
                    <a:pt x="0" y="181951"/>
                    <a:pt x="0" y="406400"/>
                  </a:cubicBezTo>
                  <a:cubicBezTo>
                    <a:pt x="0" y="630849"/>
                    <a:pt x="270783" y="812800"/>
                    <a:pt x="604811" y="812800"/>
                  </a:cubicBezTo>
                  <a:cubicBezTo>
                    <a:pt x="938839" y="812800"/>
                    <a:pt x="1209622" y="630849"/>
                    <a:pt x="1209622" y="406400"/>
                  </a:cubicBezTo>
                  <a:cubicBezTo>
                    <a:pt x="1209622" y="181951"/>
                    <a:pt x="938839" y="0"/>
                    <a:pt x="604811" y="0"/>
                  </a:cubicBezTo>
                  <a:close/>
                </a:path>
              </a:pathLst>
            </a:custGeom>
            <a:solidFill>
              <a:srgbClr val="FFF5C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02" y="38100"/>
              <a:ext cx="982818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Personalized Audio/Presentation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(Add-On)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64309" y="6315579"/>
            <a:ext cx="3335456" cy="3750863"/>
            <a:chOff x="0" y="0"/>
            <a:chExt cx="885853" cy="9961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85853" cy="996180"/>
            </a:xfrm>
            <a:custGeom>
              <a:avLst/>
              <a:gdLst/>
              <a:ahLst/>
              <a:cxnLst/>
              <a:rect l="l" t="t" r="r" b="b"/>
              <a:pathLst>
                <a:path w="885853" h="996180">
                  <a:moveTo>
                    <a:pt x="118376" y="0"/>
                  </a:moveTo>
                  <a:lnTo>
                    <a:pt x="767477" y="0"/>
                  </a:lnTo>
                  <a:cubicBezTo>
                    <a:pt x="832855" y="0"/>
                    <a:pt x="885853" y="52999"/>
                    <a:pt x="885853" y="118376"/>
                  </a:cubicBezTo>
                  <a:lnTo>
                    <a:pt x="885853" y="877804"/>
                  </a:lnTo>
                  <a:cubicBezTo>
                    <a:pt x="885853" y="909199"/>
                    <a:pt x="873382" y="939309"/>
                    <a:pt x="851182" y="961509"/>
                  </a:cubicBezTo>
                  <a:cubicBezTo>
                    <a:pt x="828982" y="983708"/>
                    <a:pt x="798873" y="996180"/>
                    <a:pt x="767477" y="996180"/>
                  </a:cubicBezTo>
                  <a:lnTo>
                    <a:pt x="118376" y="996180"/>
                  </a:lnTo>
                  <a:cubicBezTo>
                    <a:pt x="52999" y="996180"/>
                    <a:pt x="0" y="943181"/>
                    <a:pt x="0" y="877804"/>
                  </a:cubicBezTo>
                  <a:lnTo>
                    <a:pt x="0" y="118376"/>
                  </a:lnTo>
                  <a:cubicBezTo>
                    <a:pt x="0" y="52999"/>
                    <a:pt x="52999" y="0"/>
                    <a:pt x="118376" y="0"/>
                  </a:cubicBezTo>
                  <a:close/>
                </a:path>
              </a:pathLst>
            </a:custGeom>
            <a:solidFill>
              <a:srgbClr val="BFE4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85853" cy="1034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A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GET /api/onboard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POST /api/onboard/submit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B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POST /api/learn/start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POST /api/learn/generate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GET /api/learn/stream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PATCH /api/learn/evaluate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3667017" y="3970711"/>
            <a:ext cx="1130680" cy="65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8" name="AutoShape 28"/>
          <p:cNvSpPr/>
          <p:nvPr/>
        </p:nvSpPr>
        <p:spPr>
          <a:xfrm>
            <a:off x="7379518" y="3592143"/>
            <a:ext cx="13223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9" name="AutoShape 29"/>
          <p:cNvSpPr/>
          <p:nvPr/>
        </p:nvSpPr>
        <p:spPr>
          <a:xfrm flipH="1">
            <a:off x="6568742" y="5143565"/>
            <a:ext cx="0" cy="1014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" name="AutoShape 30"/>
          <p:cNvSpPr/>
          <p:nvPr/>
        </p:nvSpPr>
        <p:spPr>
          <a:xfrm flipH="1" flipV="1">
            <a:off x="5633688" y="5143565"/>
            <a:ext cx="0" cy="1014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31"/>
          <p:cNvSpPr/>
          <p:nvPr/>
        </p:nvSpPr>
        <p:spPr>
          <a:xfrm flipH="1">
            <a:off x="7379518" y="4436128"/>
            <a:ext cx="13223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2" name="AutoShape 32"/>
          <p:cNvSpPr/>
          <p:nvPr/>
        </p:nvSpPr>
        <p:spPr>
          <a:xfrm flipH="1">
            <a:off x="10672138" y="5507428"/>
            <a:ext cx="0" cy="808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" name="AutoShape 33"/>
          <p:cNvSpPr/>
          <p:nvPr/>
        </p:nvSpPr>
        <p:spPr>
          <a:xfrm flipH="1" flipV="1">
            <a:off x="9848035" y="5507428"/>
            <a:ext cx="0" cy="8055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4" name="AutoShape 34"/>
          <p:cNvSpPr/>
          <p:nvPr/>
        </p:nvSpPr>
        <p:spPr>
          <a:xfrm flipV="1">
            <a:off x="11762233" y="3543898"/>
            <a:ext cx="15609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5" name="AutoShape 35"/>
          <p:cNvSpPr/>
          <p:nvPr/>
        </p:nvSpPr>
        <p:spPr>
          <a:xfrm flipH="1">
            <a:off x="15950278" y="2956900"/>
            <a:ext cx="907510" cy="10203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36" name="Group 36"/>
          <p:cNvGrpSpPr/>
          <p:nvPr/>
        </p:nvGrpSpPr>
        <p:grpSpPr>
          <a:xfrm>
            <a:off x="13129171" y="6691464"/>
            <a:ext cx="2581821" cy="2332667"/>
            <a:chOff x="0" y="0"/>
            <a:chExt cx="685698" cy="61952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5698" cy="619526"/>
            </a:xfrm>
            <a:custGeom>
              <a:avLst/>
              <a:gdLst/>
              <a:ahLst/>
              <a:cxnLst/>
              <a:rect l="l" t="t" r="r" b="b"/>
              <a:pathLst>
                <a:path w="685698" h="619526">
                  <a:moveTo>
                    <a:pt x="152930" y="0"/>
                  </a:moveTo>
                  <a:lnTo>
                    <a:pt x="532768" y="0"/>
                  </a:lnTo>
                  <a:cubicBezTo>
                    <a:pt x="617229" y="0"/>
                    <a:pt x="685698" y="68469"/>
                    <a:pt x="685698" y="152930"/>
                  </a:cubicBezTo>
                  <a:lnTo>
                    <a:pt x="685698" y="466596"/>
                  </a:lnTo>
                  <a:cubicBezTo>
                    <a:pt x="685698" y="551057"/>
                    <a:pt x="617229" y="619526"/>
                    <a:pt x="532768" y="619526"/>
                  </a:cubicBezTo>
                  <a:lnTo>
                    <a:pt x="152930" y="619526"/>
                  </a:lnTo>
                  <a:cubicBezTo>
                    <a:pt x="68469" y="619526"/>
                    <a:pt x="0" y="551057"/>
                    <a:pt x="0" y="466596"/>
                  </a:cubicBezTo>
                  <a:lnTo>
                    <a:pt x="0" y="152930"/>
                  </a:lnTo>
                  <a:cubicBezTo>
                    <a:pt x="0" y="68469"/>
                    <a:pt x="68469" y="0"/>
                    <a:pt x="152930" y="0"/>
                  </a:cubicBezTo>
                  <a:close/>
                </a:path>
              </a:pathLst>
            </a:custGeom>
            <a:solidFill>
              <a:srgbClr val="FFF5C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685698" cy="657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Knowledge Tester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(Add-On)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flipH="1" flipV="1">
            <a:off x="11762233" y="4409417"/>
            <a:ext cx="1560413" cy="5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" name="AutoShape 40"/>
          <p:cNvSpPr/>
          <p:nvPr/>
        </p:nvSpPr>
        <p:spPr>
          <a:xfrm flipH="1">
            <a:off x="10672138" y="1821182"/>
            <a:ext cx="27255" cy="6258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" name="AutoShape 41"/>
          <p:cNvSpPr/>
          <p:nvPr/>
        </p:nvSpPr>
        <p:spPr>
          <a:xfrm flipH="1" flipV="1">
            <a:off x="9848035" y="1817105"/>
            <a:ext cx="0" cy="6299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2" name="AutoShape 42"/>
          <p:cNvSpPr/>
          <p:nvPr/>
        </p:nvSpPr>
        <p:spPr>
          <a:xfrm flipH="1" flipV="1">
            <a:off x="14420082" y="5507428"/>
            <a:ext cx="0" cy="11840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43" name="Group 43"/>
          <p:cNvGrpSpPr/>
          <p:nvPr/>
        </p:nvGrpSpPr>
        <p:grpSpPr>
          <a:xfrm>
            <a:off x="15710992" y="5305427"/>
            <a:ext cx="2113437" cy="1386037"/>
            <a:chOff x="0" y="0"/>
            <a:chExt cx="561301" cy="36811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1301" cy="368113"/>
            </a:xfrm>
            <a:custGeom>
              <a:avLst/>
              <a:gdLst/>
              <a:ahLst/>
              <a:cxnLst/>
              <a:rect l="l" t="t" r="r" b="b"/>
              <a:pathLst>
                <a:path w="561301" h="368113">
                  <a:moveTo>
                    <a:pt x="184057" y="0"/>
                  </a:moveTo>
                  <a:lnTo>
                    <a:pt x="377245" y="0"/>
                  </a:lnTo>
                  <a:cubicBezTo>
                    <a:pt x="478896" y="0"/>
                    <a:pt x="561301" y="82405"/>
                    <a:pt x="561301" y="184057"/>
                  </a:cubicBezTo>
                  <a:lnTo>
                    <a:pt x="561301" y="184057"/>
                  </a:lnTo>
                  <a:cubicBezTo>
                    <a:pt x="561301" y="232871"/>
                    <a:pt x="541910" y="279687"/>
                    <a:pt x="507392" y="314204"/>
                  </a:cubicBezTo>
                  <a:cubicBezTo>
                    <a:pt x="472875" y="348722"/>
                    <a:pt x="426059" y="368113"/>
                    <a:pt x="377245" y="368113"/>
                  </a:cubicBezTo>
                  <a:lnTo>
                    <a:pt x="184057" y="368113"/>
                  </a:lnTo>
                  <a:cubicBezTo>
                    <a:pt x="82405" y="368113"/>
                    <a:pt x="0" y="285708"/>
                    <a:pt x="0" y="184057"/>
                  </a:cubicBezTo>
                  <a:lnTo>
                    <a:pt x="0" y="184057"/>
                  </a:lnTo>
                  <a:cubicBezTo>
                    <a:pt x="0" y="82405"/>
                    <a:pt x="82405" y="0"/>
                    <a:pt x="184057" y="0"/>
                  </a:cubicBezTo>
                  <a:close/>
                </a:path>
              </a:pathLst>
            </a:custGeom>
            <a:solidFill>
              <a:srgbClr val="BFE4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61301" cy="406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Agent for Voice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(Add-On)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 flipH="1" flipV="1">
            <a:off x="15262619" y="4664891"/>
            <a:ext cx="584039" cy="7895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7" name="Freeform 47"/>
          <p:cNvSpPr/>
          <p:nvPr/>
        </p:nvSpPr>
        <p:spPr>
          <a:xfrm>
            <a:off x="715046" y="806797"/>
            <a:ext cx="1058465" cy="1058465"/>
          </a:xfrm>
          <a:custGeom>
            <a:avLst/>
            <a:gdLst/>
            <a:ahLst/>
            <a:cxnLst/>
            <a:rect l="l" t="t" r="r" b="b"/>
            <a:pathLst>
              <a:path w="1058465" h="1058465">
                <a:moveTo>
                  <a:pt x="0" y="0"/>
                </a:moveTo>
                <a:lnTo>
                  <a:pt x="1058465" y="0"/>
                </a:lnTo>
                <a:lnTo>
                  <a:pt x="1058465" y="1058464"/>
                </a:lnTo>
                <a:lnTo>
                  <a:pt x="0" y="1058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8" name="TextBox 48"/>
          <p:cNvSpPr txBox="1"/>
          <p:nvPr/>
        </p:nvSpPr>
        <p:spPr>
          <a:xfrm>
            <a:off x="1339528" y="952500"/>
            <a:ext cx="6306019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01777"/>
            <a:ext cx="2528697" cy="191832"/>
          </a:xfrm>
          <a:custGeom>
            <a:avLst/>
            <a:gdLst/>
            <a:ahLst/>
            <a:cxnLst/>
            <a:rect l="l" t="t" r="r" b="b"/>
            <a:pathLst>
              <a:path w="2528697" h="191832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060510" y="2871415"/>
            <a:ext cx="12166981" cy="5793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Frontend: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Still need to start on building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Backend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Django server with LearnerProfile and MistakeLog models.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Multi-Agent AI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NVIDIA Llama 3.1 + Gemini APIs integrated and working together.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Adaptive Learning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AI personalizes lessons.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Current Status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Core AI pipeline is fully functional; integrating with Django frontend.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39033" y="846328"/>
            <a:ext cx="1038708" cy="1038708"/>
          </a:xfrm>
          <a:custGeom>
            <a:avLst/>
            <a:gdLst/>
            <a:ahLst/>
            <a:cxnLst/>
            <a:rect l="l" t="t" r="r" b="b"/>
            <a:pathLst>
              <a:path w="1038708" h="1038708">
                <a:moveTo>
                  <a:pt x="0" y="0"/>
                </a:moveTo>
                <a:lnTo>
                  <a:pt x="1038708" y="0"/>
                </a:lnTo>
                <a:lnTo>
                  <a:pt x="1038708" y="1038708"/>
                </a:lnTo>
                <a:lnTo>
                  <a:pt x="0" y="1038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439033" y="1022338"/>
            <a:ext cx="13782434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Current Development &amp; Preliminary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07652" y="3507152"/>
            <a:ext cx="3272697" cy="3272697"/>
          </a:xfrm>
          <a:custGeom>
            <a:avLst/>
            <a:gdLst/>
            <a:ahLst/>
            <a:cxnLst/>
            <a:rect l="l" t="t" r="r" b="b"/>
            <a:pathLst>
              <a:path w="3272697" h="3272697">
                <a:moveTo>
                  <a:pt x="0" y="0"/>
                </a:moveTo>
                <a:lnTo>
                  <a:pt x="3272696" y="0"/>
                </a:lnTo>
                <a:lnTo>
                  <a:pt x="3272696" y="3272696"/>
                </a:lnTo>
                <a:lnTo>
                  <a:pt x="0" y="3272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Custom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Noto Serif Ethiopic Condensed Bold</vt:lpstr>
      <vt:lpstr>Calibri</vt:lpstr>
      <vt:lpstr>Canva Sans</vt:lpstr>
      <vt:lpstr>Noto Serif Ethiopic Condensed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 Trichy Hackathon 1</dc:title>
  <cp:lastModifiedBy>NVSS ADVIK</cp:lastModifiedBy>
  <cp:revision>2</cp:revision>
  <dcterms:created xsi:type="dcterms:W3CDTF">2006-08-16T00:00:00Z</dcterms:created>
  <dcterms:modified xsi:type="dcterms:W3CDTF">2026-08-02T17:07:39Z</dcterms:modified>
  <dc:identifier>DAHQ8SHWFEU</dc:identifier>
</cp:coreProperties>
</file>